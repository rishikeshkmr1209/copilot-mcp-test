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1" r:id="rId1"/>
  </p:sldMasterIdLst>
  <p:notesMasterIdLst>
    <p:notesMasterId r:id="rId13"/>
  </p:notesMasterIdLst>
  <p:sldIdLst>
    <p:sldId id="256" r:id="rId2"/>
    <p:sldId id="257" r:id="rId3"/>
    <p:sldId id="267" r:id="rId4"/>
    <p:sldId id="260" r:id="rId5"/>
    <p:sldId id="261" r:id="rId6"/>
    <p:sldId id="262" r:id="rId7"/>
    <p:sldId id="264" r:id="rId8"/>
    <p:sldId id="266" r:id="rId9"/>
    <p:sldId id="269" r:id="rId10"/>
    <p:sldId id="270" r:id="rId11"/>
    <p:sldId id="271" r:id="rId12"/>
  </p:sldIdLst>
  <p:sldSz cx="14630400" cy="8229600"/>
  <p:notesSz cx="8229600" cy="14630400"/>
  <p:embeddedFontLst>
    <p:embeddedFont>
      <p:font typeface="Consolas" panose="020B0609020204030204" pitchFamily="49"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Slab" pitchFamily="2" charset="0"/>
      <p:regular r:id="rId22"/>
      <p:bold r:id="rId23"/>
    </p:embeddedFont>
    <p:embeddedFont>
      <p:font typeface="Trebuchet MS" panose="020B0603020202020204" pitchFamily="34" charset="0"/>
      <p:regular r:id="rId24"/>
      <p:bold r:id="rId25"/>
      <p:italic r:id="rId26"/>
      <p:boldItalic r:id="rId27"/>
    </p:embeddedFont>
    <p:embeddedFont>
      <p:font typeface="Wingdings 3" panose="05040102010807070707" pitchFamily="18"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6753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9C467-6DB3-A900-62AE-1EEAFDB29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1514A-9F6B-AF3B-FF3B-F7CAC9287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866EC-0375-2E7E-70C4-F24C8C7187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DF8A26-9744-9452-5DB2-FE46451DD38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13092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A4B1-7B64-D1B3-C7B9-7C1CE2255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2753F-1A62-9D4A-81F8-6E62B5F3C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A9911-E75A-A7EE-86D6-5253974FF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EB17A8-8196-20C3-CE9E-F7183A6B67F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35359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6F27-77BA-D437-1EDB-4EC48AE04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CD6B8-766C-F031-35B1-80DC839B6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5C859-AF6A-188D-EC90-283846F3C9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A04CA-4518-8D77-2658-B3F387E3C0E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34574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E19E8-4763-A676-A502-AC934EAAB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80531-49ED-95DA-5022-AF30861A8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33F8B-0A55-410D-409C-4CF1857DE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32E3A7-EB5B-297C-7A9F-030A4A35B19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50585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D46B-BA7A-C638-A060-7E62C5F76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9C736-BD16-E6C1-ECB3-34A511E02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3861F-B967-9087-1832-5847E2FF97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5F3F0B-748B-DAF5-F6D7-4FA99011D2A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95026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6BC6-EAF0-FB1A-6D0A-D5C3F970D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8CA78-9CB1-EFD9-D25B-752F40532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E9CED-1E2E-5EED-2AFE-AC97FDA762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43EAD2-32F7-C6E2-A499-E080C9E5F12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1914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21328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86191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14892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3281672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81017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77032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62006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763026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3597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42454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688075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73343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8506561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49825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8760221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262483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993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990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052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4687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55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smtClean="0"/>
              <a:pPr/>
              <a:t>10/7/2025</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1005288"/>
      </p:ext>
    </p:extLst>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2" r:id="rId19"/>
    <p:sldLayoutId id="2147483703" r:id="rId20"/>
    <p:sldLayoutId id="2147483704" r:id="rId21"/>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hyperlink" Target="https://modelcontextprotocol.io/docs/getting-started/intro" TargetMode="External"/><Relationship Id="rId7" Type="http://schemas.openxmlformats.org/officeDocument/2006/relationships/hyperlink" Target="https://github.com/modelcontextprotocol/registry/tree/main/docs" TargetMode="External"/><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hyperlink" Target="https://github.com/modelcontextprotocol/servers" TargetMode="External"/><Relationship Id="rId5" Type="http://schemas.openxmlformats.org/officeDocument/2006/relationships/hyperlink" Target="https://plugins.jetbrains.com/plugin/17718-github-copilot" TargetMode="External"/><Relationship Id="rId4" Type="http://schemas.openxmlformats.org/officeDocument/2006/relationships/hyperlink" Target="https://learn.microsoft.com/en-us/visualstudio/ide/mcp-servers?view=vs-202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73781"/>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Building Intelligent Developer Workflows with MCP Server</a:t>
            </a:r>
            <a:endParaRPr lang="en-US" sz="4450" dirty="0"/>
          </a:p>
        </p:txBody>
      </p:sp>
      <p:sp>
        <p:nvSpPr>
          <p:cNvPr id="4" name="Text 1"/>
          <p:cNvSpPr/>
          <p:nvPr/>
        </p:nvSpPr>
        <p:spPr>
          <a:xfrm>
            <a:off x="6280190" y="484905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How MCP + Agent Mode Accelerates Productivity</a:t>
            </a:r>
            <a:endParaRPr lang="en-US" sz="1750" dirty="0"/>
          </a:p>
        </p:txBody>
      </p:sp>
      <p:sp>
        <p:nvSpPr>
          <p:cNvPr id="5" name="Text 2"/>
          <p:cNvSpPr/>
          <p:nvPr/>
        </p:nvSpPr>
        <p:spPr>
          <a:xfrm>
            <a:off x="6280190" y="5467112"/>
            <a:ext cx="7556421" cy="1088708"/>
          </a:xfrm>
          <a:prstGeom prst="rect">
            <a:avLst/>
          </a:prstGeom>
          <a:noFill/>
          <a:ln/>
        </p:spPr>
        <p:txBody>
          <a:bodyPr wrap="square" lIns="0" tIns="0" rIns="0" bIns="0" rtlCol="0" anchor="t"/>
          <a:lstStyle/>
          <a:p>
            <a:pPr marL="0" indent="0" algn="l">
              <a:lnSpc>
                <a:spcPts val="2850"/>
              </a:lnSpc>
              <a:buNone/>
            </a:pPr>
            <a:r>
              <a:rPr lang="en-US" sz="1750" b="1" dirty="0">
                <a:solidFill>
                  <a:srgbClr val="D6E5EF"/>
                </a:solidFill>
                <a:latin typeface="Roboto" pitchFamily="34" charset="0"/>
                <a:ea typeface="Roboto" pitchFamily="34" charset="-122"/>
                <a:cs typeface="Roboto" pitchFamily="34" charset="-120"/>
              </a:rPr>
              <a:t>Presented by:</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Rishikesh Kumar</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Pawan Mishra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57250"/>
            <a:ext cx="10470594"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Agenda</a:t>
            </a:r>
            <a:endParaRPr lang="en-US" sz="4450" dirty="0"/>
          </a:p>
        </p:txBody>
      </p:sp>
      <p:sp>
        <p:nvSpPr>
          <p:cNvPr id="3" name="Shape 1"/>
          <p:cNvSpPr/>
          <p:nvPr/>
        </p:nvSpPr>
        <p:spPr>
          <a:xfrm>
            <a:off x="793790" y="1754952"/>
            <a:ext cx="10263231" cy="4080363"/>
          </a:xfrm>
          <a:prstGeom prst="roundRect">
            <a:avLst>
              <a:gd name="adj" fmla="val 2038"/>
            </a:avLst>
          </a:prstGeom>
          <a:solidFill>
            <a:srgbClr val="3F4652"/>
          </a:solidFill>
          <a:ln/>
        </p:spPr>
        <p:txBody>
          <a:bodyPr/>
          <a:lstStyle/>
          <a:p>
            <a:endParaRPr lang="en-IN"/>
          </a:p>
        </p:txBody>
      </p:sp>
      <p:sp>
        <p:nvSpPr>
          <p:cNvPr id="5" name="Text 3"/>
          <p:cNvSpPr/>
          <p:nvPr/>
        </p:nvSpPr>
        <p:spPr>
          <a:xfrm>
            <a:off x="1020604" y="2472186"/>
            <a:ext cx="9843912" cy="725805"/>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What is MCP? Standardized AI Tool Connectivity</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Demo: Setting up GitHub &amp; MongoDB MCP Servers</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Demo: Unified Workflow - Automating GitHub Issues</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Q&amp;A</a:t>
            </a:r>
          </a:p>
          <a:p>
            <a:pPr marL="285750" indent="-285750" algn="l">
              <a:lnSpc>
                <a:spcPts val="2850"/>
              </a:lnSpc>
              <a:buFont typeface="Arial" panose="020B0604020202020204" pitchFamily="34" charset="0"/>
              <a:buChar char="•"/>
            </a:pPr>
            <a:r>
              <a:rPr lang="en-US" sz="1750" dirty="0">
                <a:solidFill>
                  <a:srgbClr val="D6E5EF"/>
                </a:solidFill>
                <a:latin typeface="Roboto" pitchFamily="34" charset="0"/>
                <a:ea typeface="Roboto" pitchFamily="34" charset="-122"/>
                <a:cs typeface="Roboto" pitchFamily="34" charset="-120"/>
              </a:rPr>
              <a:t>Appendix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30E3-245B-88BE-C7B5-CA58DF5902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15436A-0CD7-AC45-CD71-DE803FB5A085}"/>
              </a:ext>
            </a:extLst>
          </p:cNvPr>
          <p:cNvSpPr/>
          <p:nvPr/>
        </p:nvSpPr>
        <p:spPr>
          <a:xfrm>
            <a:off x="793790" y="857250"/>
            <a:ext cx="10470594"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What is MCP (Model Context Protocol)?</a:t>
            </a:r>
            <a:endParaRPr lang="en-US" sz="4450" dirty="0"/>
          </a:p>
        </p:txBody>
      </p:sp>
      <p:sp>
        <p:nvSpPr>
          <p:cNvPr id="3" name="Shape 1">
            <a:extLst>
              <a:ext uri="{FF2B5EF4-FFF2-40B4-BE49-F238E27FC236}">
                <a16:creationId xmlns:a16="http://schemas.microsoft.com/office/drawing/2014/main" id="{7D07874C-02CD-C1E4-CD80-A6AA4EC78059}"/>
              </a:ext>
            </a:extLst>
          </p:cNvPr>
          <p:cNvSpPr/>
          <p:nvPr/>
        </p:nvSpPr>
        <p:spPr>
          <a:xfrm>
            <a:off x="793790" y="1754953"/>
            <a:ext cx="10470594" cy="1228880"/>
          </a:xfrm>
          <a:prstGeom prst="roundRect">
            <a:avLst>
              <a:gd name="adj" fmla="val 2038"/>
            </a:avLst>
          </a:prstGeom>
          <a:solidFill>
            <a:srgbClr val="3F4652"/>
          </a:solidFill>
          <a:ln/>
        </p:spPr>
        <p:txBody>
          <a:bodyPr/>
          <a:lstStyle/>
          <a:p>
            <a:endParaRPr lang="en-IN"/>
          </a:p>
        </p:txBody>
      </p:sp>
      <p:sp>
        <p:nvSpPr>
          <p:cNvPr id="4" name="Text 2">
            <a:extLst>
              <a:ext uri="{FF2B5EF4-FFF2-40B4-BE49-F238E27FC236}">
                <a16:creationId xmlns:a16="http://schemas.microsoft.com/office/drawing/2014/main" id="{657B73E6-8BD4-6295-381F-DD8D529D9215}"/>
              </a:ext>
            </a:extLst>
          </p:cNvPr>
          <p:cNvSpPr/>
          <p:nvPr/>
        </p:nvSpPr>
        <p:spPr>
          <a:xfrm>
            <a:off x="1020604" y="1981767"/>
            <a:ext cx="3375898"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Standardized Connection</a:t>
            </a:r>
            <a:endParaRPr lang="en-US" sz="2200" dirty="0"/>
          </a:p>
        </p:txBody>
      </p:sp>
      <p:sp>
        <p:nvSpPr>
          <p:cNvPr id="5" name="Text 3">
            <a:extLst>
              <a:ext uri="{FF2B5EF4-FFF2-40B4-BE49-F238E27FC236}">
                <a16:creationId xmlns:a16="http://schemas.microsoft.com/office/drawing/2014/main" id="{2AC94FF0-A993-438E-D1B6-603AE57D1F2F}"/>
              </a:ext>
            </a:extLst>
          </p:cNvPr>
          <p:cNvSpPr/>
          <p:nvPr/>
        </p:nvSpPr>
        <p:spPr>
          <a:xfrm>
            <a:off x="1020604" y="2472186"/>
            <a:ext cx="9843912"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MCP standardizes how AI tools like Copilot access external data sources securely and efficiently.</a:t>
            </a:r>
          </a:p>
          <a:p>
            <a:pPr marL="0" indent="0" algn="l">
              <a:lnSpc>
                <a:spcPts val="2850"/>
              </a:lnSpc>
              <a:buNone/>
            </a:pPr>
            <a:endParaRPr lang="en-US" sz="1750" dirty="0">
              <a:solidFill>
                <a:srgbClr val="D6E5EF"/>
              </a:solidFill>
              <a:latin typeface="Roboto" pitchFamily="34" charset="0"/>
              <a:ea typeface="Roboto" pitchFamily="34" charset="-122"/>
              <a:cs typeface="Roboto" pitchFamily="34" charset="-120"/>
            </a:endParaRPr>
          </a:p>
        </p:txBody>
      </p:sp>
      <p:pic>
        <p:nvPicPr>
          <p:cNvPr id="6" name="Picture 5">
            <a:extLst>
              <a:ext uri="{FF2B5EF4-FFF2-40B4-BE49-F238E27FC236}">
                <a16:creationId xmlns:a16="http://schemas.microsoft.com/office/drawing/2014/main" id="{994D07FC-9047-C8BB-4359-C919D4816AE5}"/>
              </a:ext>
            </a:extLst>
          </p:cNvPr>
          <p:cNvPicPr>
            <a:picLocks noChangeAspect="1"/>
          </p:cNvPicPr>
          <p:nvPr/>
        </p:nvPicPr>
        <p:blipFill>
          <a:blip r:embed="rId3"/>
          <a:stretch>
            <a:fillRect/>
          </a:stretch>
        </p:blipFill>
        <p:spPr>
          <a:xfrm>
            <a:off x="854369" y="3612763"/>
            <a:ext cx="7084265" cy="3435527"/>
          </a:xfrm>
          <a:prstGeom prst="rect">
            <a:avLst/>
          </a:prstGeom>
        </p:spPr>
      </p:pic>
      <p:sp>
        <p:nvSpPr>
          <p:cNvPr id="9" name="TextBox 8">
            <a:extLst>
              <a:ext uri="{FF2B5EF4-FFF2-40B4-BE49-F238E27FC236}">
                <a16:creationId xmlns:a16="http://schemas.microsoft.com/office/drawing/2014/main" id="{51341B39-33E3-D3FC-1998-15C1C25EA76C}"/>
              </a:ext>
            </a:extLst>
          </p:cNvPr>
          <p:cNvSpPr txBox="1"/>
          <p:nvPr/>
        </p:nvSpPr>
        <p:spPr>
          <a:xfrm>
            <a:off x="8131139" y="4591863"/>
            <a:ext cx="4369671" cy="1477328"/>
          </a:xfrm>
          <a:prstGeom prst="rect">
            <a:avLst/>
          </a:prstGeom>
          <a:noFill/>
        </p:spPr>
        <p:txBody>
          <a:bodyPr wrap="square">
            <a:spAutoFit/>
          </a:bodyPr>
          <a:lstStyle/>
          <a:p>
            <a:r>
              <a:rPr lang="en-US" sz="1750" dirty="0">
                <a:solidFill>
                  <a:srgbClr val="D6E5EF"/>
                </a:solidFill>
                <a:latin typeface="Roboto" pitchFamily="34" charset="0"/>
                <a:ea typeface="Roboto" pitchFamily="34" charset="-122"/>
                <a:cs typeface="Roboto" pitchFamily="34" charset="-120"/>
              </a:rPr>
              <a:t>IDE( E.g., VS Code) acts as the MCP Host </a:t>
            </a:r>
          </a:p>
          <a:p>
            <a:r>
              <a:rPr lang="en-US" sz="1750" dirty="0">
                <a:solidFill>
                  <a:srgbClr val="D6E5EF"/>
                </a:solidFill>
                <a:latin typeface="Roboto" pitchFamily="34" charset="0"/>
                <a:ea typeface="Roboto" pitchFamily="34" charset="-122"/>
                <a:cs typeface="Roboto" pitchFamily="34" charset="-120"/>
              </a:rPr>
              <a:t>that runs Copilot Agent Mode.</a:t>
            </a:r>
          </a:p>
          <a:p>
            <a:br>
              <a:rPr lang="en-US" sz="1750" dirty="0">
                <a:solidFill>
                  <a:srgbClr val="D6E5EF"/>
                </a:solidFill>
                <a:latin typeface="Roboto" pitchFamily="34" charset="0"/>
                <a:ea typeface="Roboto" pitchFamily="34" charset="-122"/>
                <a:cs typeface="Roboto" pitchFamily="34" charset="-120"/>
              </a:rPr>
            </a:br>
            <a:r>
              <a:rPr lang="en-US" sz="1750" dirty="0">
                <a:solidFill>
                  <a:srgbClr val="D6E5EF"/>
                </a:solidFill>
                <a:latin typeface="Roboto" pitchFamily="34" charset="0"/>
                <a:ea typeface="Roboto" pitchFamily="34" charset="-122"/>
                <a:cs typeface="Roboto" pitchFamily="34" charset="-120"/>
              </a:rPr>
              <a:t>The Agent uses an LLM (Copilot model) </a:t>
            </a:r>
          </a:p>
          <a:p>
            <a:r>
              <a:rPr lang="en-US" sz="1750" dirty="0">
                <a:solidFill>
                  <a:srgbClr val="D6E5EF"/>
                </a:solidFill>
                <a:latin typeface="Roboto" pitchFamily="34" charset="0"/>
                <a:ea typeface="Roboto" pitchFamily="34" charset="-122"/>
                <a:cs typeface="Roboto" pitchFamily="34" charset="-120"/>
              </a:rPr>
              <a:t>and connects to MCP Servers</a:t>
            </a:r>
            <a:endParaRPr lang="en-IN" sz="1750" dirty="0">
              <a:solidFill>
                <a:srgbClr val="D6E5EF"/>
              </a:solidFill>
              <a:latin typeface="Roboto" pitchFamily="34" charset="0"/>
              <a:ea typeface="Roboto" pitchFamily="34" charset="-122"/>
              <a:cs typeface="Roboto" pitchFamily="34" charset="-120"/>
            </a:endParaRPr>
          </a:p>
        </p:txBody>
      </p:sp>
    </p:spTree>
    <p:extLst>
      <p:ext uri="{BB962C8B-B14F-4D97-AF65-F5344CB8AC3E}">
        <p14:creationId xmlns:p14="http://schemas.microsoft.com/office/powerpoint/2010/main" val="2125489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4371" y="845106"/>
            <a:ext cx="7608689" cy="611029"/>
          </a:xfrm>
          <a:prstGeom prst="rect">
            <a:avLst/>
          </a:prstGeom>
          <a:noFill/>
          <a:ln/>
        </p:spPr>
        <p:txBody>
          <a:bodyPr wrap="none" lIns="0" tIns="0" rIns="0" bIns="0" rtlCol="0" anchor="t"/>
          <a:lstStyle/>
          <a:p>
            <a:pPr marL="0" indent="0" algn="l">
              <a:lnSpc>
                <a:spcPts val="4800"/>
              </a:lnSpc>
              <a:buNone/>
            </a:pPr>
            <a:r>
              <a:rPr lang="en-US" sz="3800" dirty="0">
                <a:solidFill>
                  <a:srgbClr val="76B9FF"/>
                </a:solidFill>
                <a:latin typeface="Roboto Slab" pitchFamily="34" charset="0"/>
                <a:ea typeface="Roboto Slab" pitchFamily="34" charset="-122"/>
                <a:cs typeface="Roboto Slab" pitchFamily="34" charset="-120"/>
              </a:rPr>
              <a:t>Demo – Connecting MCP Servers</a:t>
            </a:r>
            <a:endParaRPr lang="en-US" sz="3800" dirty="0"/>
          </a:p>
        </p:txBody>
      </p:sp>
      <p:sp>
        <p:nvSpPr>
          <p:cNvPr id="4" name="Text 1"/>
          <p:cNvSpPr/>
          <p:nvPr/>
        </p:nvSpPr>
        <p:spPr>
          <a:xfrm>
            <a:off x="684371" y="1944886"/>
            <a:ext cx="3502462" cy="366713"/>
          </a:xfrm>
          <a:prstGeom prst="rect">
            <a:avLst/>
          </a:prstGeom>
          <a:noFill/>
          <a:ln/>
        </p:spPr>
        <p:txBody>
          <a:bodyPr wrap="none" lIns="0" tIns="0" rIns="0" bIns="0" rtlCol="0" anchor="t"/>
          <a:lstStyle/>
          <a:p>
            <a:pPr marL="0" indent="0" algn="l">
              <a:lnSpc>
                <a:spcPts val="2850"/>
              </a:lnSpc>
              <a:buNone/>
            </a:pPr>
            <a:r>
              <a:rPr lang="en-US" sz="2300" dirty="0">
                <a:solidFill>
                  <a:srgbClr val="76B9FF"/>
                </a:solidFill>
                <a:latin typeface="Roboto Slab" pitchFamily="34" charset="0"/>
                <a:ea typeface="Roboto Slab" pitchFamily="34" charset="-122"/>
                <a:cs typeface="Roboto Slab" pitchFamily="34" charset="-120"/>
              </a:rPr>
              <a:t>GitHub MCP Server Setup</a:t>
            </a:r>
            <a:endParaRPr lang="en-US" sz="2300" dirty="0"/>
          </a:p>
        </p:txBody>
      </p:sp>
      <p:sp>
        <p:nvSpPr>
          <p:cNvPr id="5" name="Text 2"/>
          <p:cNvSpPr/>
          <p:nvPr/>
        </p:nvSpPr>
        <p:spPr>
          <a:xfrm>
            <a:off x="684371" y="2507099"/>
            <a:ext cx="3649147" cy="625554"/>
          </a:xfrm>
          <a:prstGeom prst="rect">
            <a:avLst/>
          </a:prstGeom>
          <a:noFill/>
          <a:ln/>
        </p:spPr>
        <p:txBody>
          <a:bodyPr wrap="square" lIns="0" tIns="0" rIns="0" bIns="0" rtlCol="0" anchor="t"/>
          <a:lstStyle/>
          <a:p>
            <a:pPr marL="342900" indent="-342900" algn="l">
              <a:lnSpc>
                <a:spcPts val="2450"/>
              </a:lnSpc>
              <a:buSzPct val="100000"/>
              <a:buFont typeface="+mj-lt"/>
              <a:buAutoNum type="arabicPeriod"/>
            </a:pPr>
            <a:r>
              <a:rPr lang="en-US" sz="1500" dirty="0">
                <a:solidFill>
                  <a:srgbClr val="D6E5EF"/>
                </a:solidFill>
                <a:latin typeface="Roboto" pitchFamily="34" charset="0"/>
                <a:ea typeface="Roboto" pitchFamily="34" charset="-122"/>
                <a:cs typeface="Roboto" pitchFamily="34" charset="-120"/>
              </a:rPr>
              <a:t>Run → mcp: add server → choose HTTP</a:t>
            </a:r>
            <a:endParaRPr lang="en-US" sz="1500" dirty="0"/>
          </a:p>
        </p:txBody>
      </p:sp>
      <p:sp>
        <p:nvSpPr>
          <p:cNvPr id="6" name="Text 3"/>
          <p:cNvSpPr/>
          <p:nvPr/>
        </p:nvSpPr>
        <p:spPr>
          <a:xfrm>
            <a:off x="684371" y="3200995"/>
            <a:ext cx="3649147" cy="625554"/>
          </a:xfrm>
          <a:prstGeom prst="rect">
            <a:avLst/>
          </a:prstGeom>
          <a:noFill/>
          <a:ln/>
        </p:spPr>
        <p:txBody>
          <a:bodyPr wrap="square" lIns="0" tIns="0" rIns="0" bIns="0" rtlCol="0" anchor="t"/>
          <a:lstStyle/>
          <a:p>
            <a:pPr marL="342900" indent="-342900" algn="l">
              <a:lnSpc>
                <a:spcPts val="2450"/>
              </a:lnSpc>
              <a:buSzPct val="100000"/>
              <a:buFont typeface="+mj-lt"/>
              <a:buAutoNum type="arabicPeriod" startAt="2"/>
            </a:pPr>
            <a:r>
              <a:rPr lang="en-US" sz="1500" dirty="0">
                <a:solidFill>
                  <a:srgbClr val="D6E5EF"/>
                </a:solidFill>
                <a:latin typeface="Roboto" pitchFamily="34" charset="0"/>
                <a:ea typeface="Roboto" pitchFamily="34" charset="-122"/>
                <a:cs typeface="Roboto" pitchFamily="34" charset="-120"/>
              </a:rPr>
              <a:t>URL → https://api.githubcopilot.com/mcp/</a:t>
            </a:r>
            <a:endParaRPr lang="en-US" sz="1500" dirty="0"/>
          </a:p>
        </p:txBody>
      </p:sp>
      <p:sp>
        <p:nvSpPr>
          <p:cNvPr id="7" name="Text 4"/>
          <p:cNvSpPr/>
          <p:nvPr/>
        </p:nvSpPr>
        <p:spPr>
          <a:xfrm>
            <a:off x="684371" y="3894892"/>
            <a:ext cx="3649147" cy="312777"/>
          </a:xfrm>
          <a:prstGeom prst="rect">
            <a:avLst/>
          </a:prstGeom>
          <a:noFill/>
          <a:ln/>
        </p:spPr>
        <p:txBody>
          <a:bodyPr wrap="none" lIns="0" tIns="0" rIns="0" bIns="0" rtlCol="0" anchor="t"/>
          <a:lstStyle/>
          <a:p>
            <a:pPr marL="342900" indent="-342900" algn="l">
              <a:lnSpc>
                <a:spcPts val="2450"/>
              </a:lnSpc>
              <a:buSzPct val="100000"/>
              <a:buFont typeface="+mj-lt"/>
              <a:buAutoNum type="arabicPeriod" startAt="3"/>
            </a:pPr>
            <a:r>
              <a:rPr lang="en-US" sz="1500" dirty="0">
                <a:solidFill>
                  <a:srgbClr val="D6E5EF"/>
                </a:solidFill>
                <a:latin typeface="Roboto" pitchFamily="34" charset="0"/>
                <a:ea typeface="Roboto" pitchFamily="34" charset="-122"/>
                <a:cs typeface="Roboto" pitchFamily="34" charset="-120"/>
              </a:rPr>
              <a:t>Authorize via GitHub OAuth</a:t>
            </a:r>
            <a:endParaRPr lang="en-US" sz="1500" dirty="0"/>
          </a:p>
        </p:txBody>
      </p:sp>
      <p:sp>
        <p:nvSpPr>
          <p:cNvPr id="8" name="Text 5"/>
          <p:cNvSpPr/>
          <p:nvPr/>
        </p:nvSpPr>
        <p:spPr>
          <a:xfrm>
            <a:off x="4818102" y="1944886"/>
            <a:ext cx="3649147" cy="733425"/>
          </a:xfrm>
          <a:prstGeom prst="rect">
            <a:avLst/>
          </a:prstGeom>
          <a:noFill/>
          <a:ln/>
        </p:spPr>
        <p:txBody>
          <a:bodyPr wrap="square" lIns="0" tIns="0" rIns="0" bIns="0" rtlCol="0" anchor="t"/>
          <a:lstStyle/>
          <a:p>
            <a:pPr marL="0" indent="0" algn="l">
              <a:lnSpc>
                <a:spcPts val="2850"/>
              </a:lnSpc>
              <a:buNone/>
            </a:pPr>
            <a:r>
              <a:rPr lang="en-US" sz="2300" dirty="0">
                <a:solidFill>
                  <a:srgbClr val="76B9FF"/>
                </a:solidFill>
                <a:latin typeface="Roboto Slab" pitchFamily="34" charset="0"/>
                <a:ea typeface="Roboto Slab" pitchFamily="34" charset="-122"/>
                <a:cs typeface="Roboto Slab" pitchFamily="34" charset="-120"/>
              </a:rPr>
              <a:t>MongoDB MCP Server Setup</a:t>
            </a:r>
            <a:endParaRPr lang="en-US" sz="2300" dirty="0"/>
          </a:p>
        </p:txBody>
      </p:sp>
      <p:sp>
        <p:nvSpPr>
          <p:cNvPr id="9" name="Shape 6"/>
          <p:cNvSpPr/>
          <p:nvPr/>
        </p:nvSpPr>
        <p:spPr>
          <a:xfrm>
            <a:off x="4818102" y="2898219"/>
            <a:ext cx="3649147" cy="3733681"/>
          </a:xfrm>
          <a:prstGeom prst="roundRect">
            <a:avLst>
              <a:gd name="adj" fmla="val 804"/>
            </a:avLst>
          </a:prstGeom>
          <a:solidFill>
            <a:srgbClr val="2D3440"/>
          </a:solidFill>
          <a:ln/>
        </p:spPr>
        <p:txBody>
          <a:bodyPr/>
          <a:lstStyle/>
          <a:p>
            <a:endParaRPr lang="en-IN"/>
          </a:p>
        </p:txBody>
      </p:sp>
      <p:sp>
        <p:nvSpPr>
          <p:cNvPr id="10" name="Shape 7"/>
          <p:cNvSpPr/>
          <p:nvPr/>
        </p:nvSpPr>
        <p:spPr>
          <a:xfrm>
            <a:off x="4808339" y="2898219"/>
            <a:ext cx="3668673" cy="3733681"/>
          </a:xfrm>
          <a:prstGeom prst="roundRect">
            <a:avLst>
              <a:gd name="adj" fmla="val 800"/>
            </a:avLst>
          </a:prstGeom>
          <a:solidFill>
            <a:srgbClr val="2D3440"/>
          </a:solidFill>
          <a:ln/>
        </p:spPr>
        <p:txBody>
          <a:bodyPr/>
          <a:lstStyle/>
          <a:p>
            <a:endParaRPr lang="en-IN"/>
          </a:p>
        </p:txBody>
      </p:sp>
      <p:sp>
        <p:nvSpPr>
          <p:cNvPr id="11" name="Text 8"/>
          <p:cNvSpPr/>
          <p:nvPr/>
        </p:nvSpPr>
        <p:spPr>
          <a:xfrm>
            <a:off x="5003840" y="3044785"/>
            <a:ext cx="3277672" cy="3440549"/>
          </a:xfrm>
          <a:prstGeom prst="rect">
            <a:avLst/>
          </a:prstGeom>
          <a:noFill/>
          <a:ln/>
        </p:spPr>
        <p:txBody>
          <a:bodyPr wrap="square" lIns="0" tIns="0" rIns="0" bIns="0" rtlCol="0" anchor="t"/>
          <a:lstStyle/>
          <a:p>
            <a:pPr marL="0" indent="0" algn="l">
              <a:lnSpc>
                <a:spcPts val="2450"/>
              </a:lnSpc>
              <a:buNone/>
            </a:pPr>
            <a:r>
              <a:rPr lang="en-US" sz="1500" dirty="0">
                <a:solidFill>
                  <a:srgbClr val="D6E5EF"/>
                </a:solidFill>
                <a:highlight>
                  <a:srgbClr val="2D3440"/>
                </a:highlight>
                <a:latin typeface="Consolas" pitchFamily="34" charset="0"/>
                <a:ea typeface="Consolas" pitchFamily="34" charset="-122"/>
                <a:cs typeface="Consolas" pitchFamily="34" charset="-120"/>
              </a:rPr>
              <a:t>"MongoDB": {  "command": "npx",  "args": [    "-y",    "mongodb-mcp-server",    "--connectionString",    "mongodb://localhost:27017/myDatabase"  ]}</a:t>
            </a:r>
            <a:endParaRPr lang="en-US" sz="1500" dirty="0"/>
          </a:p>
        </p:txBody>
      </p:sp>
      <p:sp>
        <p:nvSpPr>
          <p:cNvPr id="12" name="Text 9"/>
          <p:cNvSpPr/>
          <p:nvPr/>
        </p:nvSpPr>
        <p:spPr>
          <a:xfrm>
            <a:off x="684371" y="7071717"/>
            <a:ext cx="7775258" cy="312777"/>
          </a:xfrm>
          <a:prstGeom prst="rect">
            <a:avLst/>
          </a:prstGeom>
          <a:noFill/>
          <a:ln/>
        </p:spPr>
        <p:txBody>
          <a:bodyPr wrap="none" lIns="0" tIns="0" rIns="0" bIns="0" rtlCol="0" anchor="t"/>
          <a:lstStyle/>
          <a:p>
            <a:pPr marL="0" indent="0" algn="l">
              <a:lnSpc>
                <a:spcPts val="2450"/>
              </a:lnSpc>
              <a:buNone/>
            </a:pPr>
            <a:r>
              <a:rPr lang="en-US" sz="1500" dirty="0">
                <a:solidFill>
                  <a:srgbClr val="000000"/>
                </a:solidFill>
                <a:latin typeface="Roboto" pitchFamily="34" charset="0"/>
                <a:ea typeface="Roboto" pitchFamily="34" charset="-122"/>
                <a:cs typeface="Roboto" pitchFamily="34" charset="-120"/>
              </a:rPr>
              <a:t>✅</a:t>
            </a:r>
            <a:r>
              <a:rPr lang="en-US" sz="1500" dirty="0">
                <a:solidFill>
                  <a:srgbClr val="D6E5EF"/>
                </a:solidFill>
                <a:latin typeface="Roboto" pitchFamily="34" charset="0"/>
                <a:ea typeface="Roboto" pitchFamily="34" charset="-122"/>
                <a:cs typeface="Roboto" pitchFamily="34" charset="-120"/>
              </a:rPr>
              <a:t> Confirm both connections appear in .vscode/mcp.json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0925" y="714851"/>
            <a:ext cx="6424732" cy="652582"/>
          </a:xfrm>
          <a:prstGeom prst="rect">
            <a:avLst/>
          </a:prstGeom>
          <a:noFill/>
          <a:ln/>
        </p:spPr>
        <p:txBody>
          <a:bodyPr wrap="none" lIns="0" tIns="0" rIns="0" bIns="0" rtlCol="0" anchor="t"/>
          <a:lstStyle/>
          <a:p>
            <a:pPr marL="0" indent="0" algn="l">
              <a:lnSpc>
                <a:spcPts val="5100"/>
              </a:lnSpc>
              <a:buNone/>
            </a:pPr>
            <a:r>
              <a:rPr lang="en-US" sz="4100" dirty="0">
                <a:solidFill>
                  <a:srgbClr val="76B9FF"/>
                </a:solidFill>
                <a:latin typeface="Roboto Slab" pitchFamily="34" charset="0"/>
                <a:ea typeface="Roboto Slab" pitchFamily="34" charset="-122"/>
                <a:cs typeface="Roboto Slab" pitchFamily="34" charset="-120"/>
              </a:rPr>
              <a:t>Demo – Unified Workflow</a:t>
            </a:r>
            <a:endParaRPr lang="en-US" sz="4100" dirty="0"/>
          </a:p>
        </p:txBody>
      </p:sp>
      <p:pic>
        <p:nvPicPr>
          <p:cNvPr id="4" name="Image 1" descr="preencoded.png"/>
          <p:cNvPicPr>
            <a:picLocks noChangeAspect="1"/>
          </p:cNvPicPr>
          <p:nvPr/>
        </p:nvPicPr>
        <p:blipFill>
          <a:blip r:embed="rId4"/>
          <a:stretch>
            <a:fillRect/>
          </a:stretch>
        </p:blipFill>
        <p:spPr>
          <a:xfrm>
            <a:off x="730925" y="1680686"/>
            <a:ext cx="626507" cy="1143000"/>
          </a:xfrm>
          <a:prstGeom prst="rect">
            <a:avLst/>
          </a:prstGeom>
        </p:spPr>
      </p:pic>
      <p:sp>
        <p:nvSpPr>
          <p:cNvPr id="5" name="Text 1"/>
          <p:cNvSpPr/>
          <p:nvPr/>
        </p:nvSpPr>
        <p:spPr>
          <a:xfrm>
            <a:off x="1566267" y="1889522"/>
            <a:ext cx="2610445" cy="326350"/>
          </a:xfrm>
          <a:prstGeom prst="rect">
            <a:avLst/>
          </a:prstGeom>
          <a:noFill/>
          <a:ln/>
        </p:spPr>
        <p:txBody>
          <a:bodyPr wrap="none" lIns="0" tIns="0" rIns="0" bIns="0" rtlCol="0" anchor="t"/>
          <a:lstStyle/>
          <a:p>
            <a:pPr marL="0" indent="0" algn="l">
              <a:lnSpc>
                <a:spcPts val="2550"/>
              </a:lnSpc>
              <a:buNone/>
            </a:pPr>
            <a:r>
              <a:rPr lang="en-US" sz="2050" dirty="0">
                <a:solidFill>
                  <a:srgbClr val="D6E5EF"/>
                </a:solidFill>
                <a:latin typeface="Roboto Slab" pitchFamily="34" charset="0"/>
                <a:ea typeface="Roboto Slab" pitchFamily="34" charset="-122"/>
                <a:cs typeface="Roboto Slab" pitchFamily="34" charset="-120"/>
              </a:rPr>
              <a:t>Query MongoDB</a:t>
            </a:r>
            <a:endParaRPr lang="en-US" sz="2050" dirty="0"/>
          </a:p>
        </p:txBody>
      </p:sp>
      <p:sp>
        <p:nvSpPr>
          <p:cNvPr id="6" name="Text 2"/>
          <p:cNvSpPr/>
          <p:nvPr/>
        </p:nvSpPr>
        <p:spPr>
          <a:xfrm>
            <a:off x="1566267" y="2341126"/>
            <a:ext cx="6846808" cy="334089"/>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Roboto" pitchFamily="34" charset="0"/>
                <a:ea typeface="Roboto" pitchFamily="34" charset="-122"/>
                <a:cs typeface="Roboto" pitchFamily="34" charset="-120"/>
              </a:rPr>
              <a:t>[Action: Mongo MCP] Find tasks where status = "OVERDUE"</a:t>
            </a:r>
            <a:endParaRPr lang="en-US" sz="1600" dirty="0"/>
          </a:p>
        </p:txBody>
      </p:sp>
      <p:pic>
        <p:nvPicPr>
          <p:cNvPr id="7" name="Image 2" descr="preencoded.png"/>
          <p:cNvPicPr>
            <a:picLocks noChangeAspect="1"/>
          </p:cNvPicPr>
          <p:nvPr/>
        </p:nvPicPr>
        <p:blipFill>
          <a:blip r:embed="rId5"/>
          <a:stretch>
            <a:fillRect/>
          </a:stretch>
        </p:blipFill>
        <p:spPr>
          <a:xfrm>
            <a:off x="1044178" y="3142536"/>
            <a:ext cx="626507" cy="1143000"/>
          </a:xfrm>
          <a:prstGeom prst="rect">
            <a:avLst/>
          </a:prstGeom>
        </p:spPr>
      </p:pic>
      <p:sp>
        <p:nvSpPr>
          <p:cNvPr id="8" name="Text 3"/>
          <p:cNvSpPr/>
          <p:nvPr/>
        </p:nvSpPr>
        <p:spPr>
          <a:xfrm>
            <a:off x="1879521" y="3351371"/>
            <a:ext cx="2610445" cy="326350"/>
          </a:xfrm>
          <a:prstGeom prst="rect">
            <a:avLst/>
          </a:prstGeom>
          <a:noFill/>
          <a:ln/>
        </p:spPr>
        <p:txBody>
          <a:bodyPr wrap="none" lIns="0" tIns="0" rIns="0" bIns="0" rtlCol="0" anchor="t"/>
          <a:lstStyle/>
          <a:p>
            <a:pPr marL="0" indent="0" algn="l">
              <a:lnSpc>
                <a:spcPts val="2550"/>
              </a:lnSpc>
              <a:buNone/>
            </a:pPr>
            <a:r>
              <a:rPr lang="en-US" sz="2050" dirty="0">
                <a:solidFill>
                  <a:srgbClr val="D6E5EF"/>
                </a:solidFill>
                <a:latin typeface="Roboto Slab" pitchFamily="34" charset="0"/>
                <a:ea typeface="Roboto Slab" pitchFamily="34" charset="-122"/>
                <a:cs typeface="Roboto Slab" pitchFamily="34" charset="-120"/>
              </a:rPr>
              <a:t>Process Results</a:t>
            </a:r>
            <a:endParaRPr lang="en-US" sz="2050" dirty="0"/>
          </a:p>
        </p:txBody>
      </p:sp>
      <p:sp>
        <p:nvSpPr>
          <p:cNvPr id="9" name="Text 4"/>
          <p:cNvSpPr/>
          <p:nvPr/>
        </p:nvSpPr>
        <p:spPr>
          <a:xfrm>
            <a:off x="1879521" y="3802975"/>
            <a:ext cx="6533555" cy="668179"/>
          </a:xfrm>
          <a:prstGeom prst="rect">
            <a:avLst/>
          </a:prstGeom>
          <a:noFill/>
          <a:ln/>
        </p:spPr>
        <p:txBody>
          <a:bodyPr wrap="square" lIns="0" tIns="0" rIns="0" bIns="0" rtlCol="0" anchor="t"/>
          <a:lstStyle/>
          <a:p>
            <a:pPr marL="0" indent="0" algn="l">
              <a:lnSpc>
                <a:spcPts val="2600"/>
              </a:lnSpc>
              <a:buNone/>
            </a:pPr>
            <a:r>
              <a:rPr lang="en-US" sz="1600" dirty="0">
                <a:solidFill>
                  <a:srgbClr val="D6E5EF"/>
                </a:solidFill>
                <a:latin typeface="Roboto" pitchFamily="34" charset="0"/>
                <a:ea typeface="Roboto" pitchFamily="34" charset="-122"/>
                <a:cs typeface="Roboto" pitchFamily="34" charset="-120"/>
              </a:rPr>
              <a:t>Agent Mode analyzes overdue tasks and prepares GitHub issue creation</a:t>
            </a:r>
            <a:endParaRPr lang="en-US" sz="1600" dirty="0"/>
          </a:p>
        </p:txBody>
      </p:sp>
      <p:pic>
        <p:nvPicPr>
          <p:cNvPr id="10" name="Image 3" descr="preencoded.png"/>
          <p:cNvPicPr>
            <a:picLocks noChangeAspect="1"/>
          </p:cNvPicPr>
          <p:nvPr/>
        </p:nvPicPr>
        <p:blipFill>
          <a:blip r:embed="rId4"/>
          <a:stretch>
            <a:fillRect/>
          </a:stretch>
        </p:blipFill>
        <p:spPr>
          <a:xfrm>
            <a:off x="1357432" y="4888825"/>
            <a:ext cx="626507" cy="1143000"/>
          </a:xfrm>
          <a:prstGeom prst="rect">
            <a:avLst/>
          </a:prstGeom>
        </p:spPr>
      </p:pic>
      <p:sp>
        <p:nvSpPr>
          <p:cNvPr id="11" name="Text 5"/>
          <p:cNvSpPr/>
          <p:nvPr/>
        </p:nvSpPr>
        <p:spPr>
          <a:xfrm>
            <a:off x="2192774" y="5097661"/>
            <a:ext cx="2610445" cy="326350"/>
          </a:xfrm>
          <a:prstGeom prst="rect">
            <a:avLst/>
          </a:prstGeom>
          <a:noFill/>
          <a:ln/>
        </p:spPr>
        <p:txBody>
          <a:bodyPr wrap="none" lIns="0" tIns="0" rIns="0" bIns="0" rtlCol="0" anchor="t"/>
          <a:lstStyle/>
          <a:p>
            <a:pPr marL="0" indent="0" algn="l">
              <a:lnSpc>
                <a:spcPts val="2550"/>
              </a:lnSpc>
              <a:buNone/>
            </a:pPr>
            <a:r>
              <a:rPr lang="en-US" sz="2050" dirty="0">
                <a:solidFill>
                  <a:srgbClr val="D6E5EF"/>
                </a:solidFill>
                <a:latin typeface="Roboto Slab" pitchFamily="34" charset="0"/>
                <a:ea typeface="Roboto Slab" pitchFamily="34" charset="-122"/>
                <a:cs typeface="Roboto Slab" pitchFamily="34" charset="-120"/>
              </a:rPr>
              <a:t>Auto-Create Issues</a:t>
            </a:r>
            <a:endParaRPr lang="en-US" sz="2050" dirty="0"/>
          </a:p>
        </p:txBody>
      </p:sp>
      <p:sp>
        <p:nvSpPr>
          <p:cNvPr id="12" name="Text 6"/>
          <p:cNvSpPr/>
          <p:nvPr/>
        </p:nvSpPr>
        <p:spPr>
          <a:xfrm>
            <a:off x="2192774" y="5549265"/>
            <a:ext cx="6220301" cy="334089"/>
          </a:xfrm>
          <a:prstGeom prst="rect">
            <a:avLst/>
          </a:prstGeom>
          <a:noFill/>
          <a:ln/>
        </p:spPr>
        <p:txBody>
          <a:bodyPr wrap="none" lIns="0" tIns="0" rIns="0" bIns="0" rtlCol="0" anchor="t"/>
          <a:lstStyle/>
          <a:p>
            <a:pPr marL="0" indent="0" algn="l">
              <a:lnSpc>
                <a:spcPts val="2600"/>
              </a:lnSpc>
              <a:buNone/>
            </a:pPr>
            <a:r>
              <a:rPr lang="en-US" sz="1600" dirty="0">
                <a:solidFill>
                  <a:srgbClr val="D6E5EF"/>
                </a:solidFill>
                <a:latin typeface="Roboto" pitchFamily="34" charset="0"/>
                <a:ea typeface="Roboto" pitchFamily="34" charset="-122"/>
                <a:cs typeface="Roboto" pitchFamily="34" charset="-120"/>
              </a:rPr>
              <a:t>"Create GitHub issues for overdue tasks" - executed automatically</a:t>
            </a:r>
            <a:endParaRPr lang="en-US" sz="1600" dirty="0"/>
          </a:p>
        </p:txBody>
      </p:sp>
      <p:sp>
        <p:nvSpPr>
          <p:cNvPr id="13" name="Text 7"/>
          <p:cNvSpPr/>
          <p:nvPr/>
        </p:nvSpPr>
        <p:spPr>
          <a:xfrm>
            <a:off x="1044178" y="6611660"/>
            <a:ext cx="7368897" cy="668179"/>
          </a:xfrm>
          <a:prstGeom prst="rect">
            <a:avLst/>
          </a:prstGeom>
          <a:noFill/>
          <a:ln/>
        </p:spPr>
        <p:txBody>
          <a:bodyPr wrap="square" lIns="0" tIns="0" rIns="0" bIns="0" rtlCol="0" anchor="t"/>
          <a:lstStyle/>
          <a:p>
            <a:pPr marL="0" indent="0" algn="l">
              <a:lnSpc>
                <a:spcPts val="2600"/>
              </a:lnSpc>
              <a:buNone/>
            </a:pPr>
            <a:r>
              <a:rPr lang="en-US" sz="1600" b="1" dirty="0">
                <a:solidFill>
                  <a:srgbClr val="D6E5EF"/>
                </a:solidFill>
                <a:latin typeface="Roboto" pitchFamily="34" charset="0"/>
                <a:ea typeface="Roboto" pitchFamily="34" charset="-122"/>
                <a:cs typeface="Roboto" pitchFamily="34" charset="-120"/>
              </a:rPr>
              <a:t>Outcome:</a:t>
            </a:r>
            <a:r>
              <a:rPr lang="en-US" sz="1600" dirty="0">
                <a:solidFill>
                  <a:srgbClr val="D6E5EF"/>
                </a:solidFill>
                <a:latin typeface="Roboto" pitchFamily="34" charset="0"/>
                <a:ea typeface="Roboto" pitchFamily="34" charset="-122"/>
                <a:cs typeface="Roboto" pitchFamily="34" charset="-120"/>
              </a:rPr>
              <a:t> Copilot automates end-to-end task management from database → GitHub, eliminating manual workflow steps.</a:t>
            </a:r>
            <a:endParaRPr lang="en-US" sz="1600" dirty="0"/>
          </a:p>
        </p:txBody>
      </p:sp>
      <p:sp>
        <p:nvSpPr>
          <p:cNvPr id="14" name="Shape 8"/>
          <p:cNvSpPr/>
          <p:nvPr/>
        </p:nvSpPr>
        <p:spPr>
          <a:xfrm>
            <a:off x="730925" y="6376749"/>
            <a:ext cx="22860" cy="1137999"/>
          </a:xfrm>
          <a:prstGeom prst="rect">
            <a:avLst/>
          </a:prstGeom>
          <a:solidFill>
            <a:srgbClr val="66A8EE"/>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02442" y="807958"/>
            <a:ext cx="6927532" cy="639366"/>
          </a:xfrm>
          <a:prstGeom prst="rect">
            <a:avLst/>
          </a:prstGeom>
          <a:noFill/>
          <a:ln/>
        </p:spPr>
        <p:txBody>
          <a:bodyPr wrap="none" lIns="0" tIns="0" rIns="0" bIns="0" rtlCol="0" anchor="t"/>
          <a:lstStyle/>
          <a:p>
            <a:pPr marL="0" indent="0" algn="l">
              <a:lnSpc>
                <a:spcPts val="5000"/>
              </a:lnSpc>
              <a:buNone/>
            </a:pPr>
            <a:r>
              <a:rPr lang="en-US" sz="4000" dirty="0">
                <a:solidFill>
                  <a:srgbClr val="76B9FF"/>
                </a:solidFill>
                <a:latin typeface="Roboto Slab" pitchFamily="34" charset="0"/>
                <a:ea typeface="Roboto Slab" pitchFamily="34" charset="-122"/>
                <a:cs typeface="Roboto Slab" pitchFamily="34" charset="-120"/>
              </a:rPr>
              <a:t>Key Takeaways</a:t>
            </a:r>
            <a:endParaRPr lang="en-US" sz="4000" dirty="0"/>
          </a:p>
        </p:txBody>
      </p:sp>
      <p:sp>
        <p:nvSpPr>
          <p:cNvPr id="4" name="Shape 1"/>
          <p:cNvSpPr/>
          <p:nvPr/>
        </p:nvSpPr>
        <p:spPr>
          <a:xfrm>
            <a:off x="6202442" y="1754148"/>
            <a:ext cx="3753683" cy="1833801"/>
          </a:xfrm>
          <a:prstGeom prst="roundRect">
            <a:avLst>
              <a:gd name="adj" fmla="val 26779"/>
            </a:avLst>
          </a:prstGeom>
          <a:solidFill>
            <a:srgbClr val="3F4652"/>
          </a:solidFill>
          <a:ln/>
        </p:spPr>
        <p:txBody>
          <a:bodyPr/>
          <a:lstStyle/>
          <a:p>
            <a:endParaRPr lang="en-IN"/>
          </a:p>
        </p:txBody>
      </p:sp>
      <p:sp>
        <p:nvSpPr>
          <p:cNvPr id="5" name="Text 2"/>
          <p:cNvSpPr/>
          <p:nvPr/>
        </p:nvSpPr>
        <p:spPr>
          <a:xfrm>
            <a:off x="6406991" y="1958697"/>
            <a:ext cx="2557582" cy="319683"/>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Dynamic Context</a:t>
            </a:r>
            <a:endParaRPr lang="en-US" sz="2000" dirty="0"/>
          </a:p>
        </p:txBody>
      </p:sp>
      <p:sp>
        <p:nvSpPr>
          <p:cNvPr id="6" name="Text 3"/>
          <p:cNvSpPr/>
          <p:nvPr/>
        </p:nvSpPr>
        <p:spPr>
          <a:xfrm>
            <a:off x="6406991" y="2401133"/>
            <a:ext cx="3344585" cy="982266"/>
          </a:xfrm>
          <a:prstGeom prst="rect">
            <a:avLst/>
          </a:prstGeom>
          <a:noFill/>
          <a:ln/>
        </p:spPr>
        <p:txBody>
          <a:bodyPr wrap="square" lIns="0" tIns="0" rIns="0" bIns="0" rtlCol="0" anchor="t"/>
          <a:lstStyle/>
          <a:p>
            <a:pPr marL="0" indent="0" algn="l">
              <a:lnSpc>
                <a:spcPts val="2550"/>
              </a:lnSpc>
              <a:buNone/>
            </a:pPr>
            <a:r>
              <a:rPr lang="en-US" sz="1600" dirty="0">
                <a:solidFill>
                  <a:srgbClr val="D6E5EF"/>
                </a:solidFill>
                <a:latin typeface="Roboto" pitchFamily="34" charset="0"/>
                <a:ea typeface="Roboto" pitchFamily="34" charset="-122"/>
                <a:cs typeface="Roboto" pitchFamily="34" charset="-120"/>
              </a:rPr>
              <a:t>MCP empowers AI tools to access real-world context dynamically, making intelligent decisions.</a:t>
            </a:r>
            <a:endParaRPr lang="en-US" sz="1600" dirty="0"/>
          </a:p>
        </p:txBody>
      </p:sp>
      <p:sp>
        <p:nvSpPr>
          <p:cNvPr id="7" name="Shape 4"/>
          <p:cNvSpPr/>
          <p:nvPr/>
        </p:nvSpPr>
        <p:spPr>
          <a:xfrm>
            <a:off x="10160675" y="1754148"/>
            <a:ext cx="3753683" cy="1833801"/>
          </a:xfrm>
          <a:prstGeom prst="roundRect">
            <a:avLst>
              <a:gd name="adj" fmla="val 26779"/>
            </a:avLst>
          </a:prstGeom>
          <a:solidFill>
            <a:srgbClr val="3F4652"/>
          </a:solidFill>
          <a:ln/>
        </p:spPr>
        <p:txBody>
          <a:bodyPr/>
          <a:lstStyle/>
          <a:p>
            <a:endParaRPr lang="en-IN"/>
          </a:p>
        </p:txBody>
      </p:sp>
      <p:sp>
        <p:nvSpPr>
          <p:cNvPr id="8" name="Text 5"/>
          <p:cNvSpPr/>
          <p:nvPr/>
        </p:nvSpPr>
        <p:spPr>
          <a:xfrm>
            <a:off x="10365224" y="1958697"/>
            <a:ext cx="2617827" cy="319683"/>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Smarter Development</a:t>
            </a:r>
            <a:endParaRPr lang="en-US" sz="2000" dirty="0"/>
          </a:p>
        </p:txBody>
      </p:sp>
      <p:sp>
        <p:nvSpPr>
          <p:cNvPr id="9" name="Text 6"/>
          <p:cNvSpPr/>
          <p:nvPr/>
        </p:nvSpPr>
        <p:spPr>
          <a:xfrm>
            <a:off x="10365224" y="2401133"/>
            <a:ext cx="3344585" cy="982266"/>
          </a:xfrm>
          <a:prstGeom prst="rect">
            <a:avLst/>
          </a:prstGeom>
          <a:noFill/>
          <a:ln/>
        </p:spPr>
        <p:txBody>
          <a:bodyPr wrap="square" lIns="0" tIns="0" rIns="0" bIns="0" rtlCol="0" anchor="t"/>
          <a:lstStyle/>
          <a:p>
            <a:pPr marL="0" indent="0" algn="l">
              <a:lnSpc>
                <a:spcPts val="2550"/>
              </a:lnSpc>
              <a:buNone/>
            </a:pPr>
            <a:r>
              <a:rPr lang="en-US" sz="1600" dirty="0">
                <a:solidFill>
                  <a:srgbClr val="D6E5EF"/>
                </a:solidFill>
                <a:latin typeface="Roboto" pitchFamily="34" charset="0"/>
                <a:ea typeface="Roboto" pitchFamily="34" charset="-122"/>
                <a:cs typeface="Roboto" pitchFamily="34" charset="-120"/>
              </a:rPr>
              <a:t>GitHub + MongoDB MCP = Smarter code with fewer manual steps and enhanced productivity.</a:t>
            </a:r>
            <a:endParaRPr lang="en-US" sz="1600" dirty="0"/>
          </a:p>
        </p:txBody>
      </p:sp>
      <p:sp>
        <p:nvSpPr>
          <p:cNvPr id="10" name="Shape 7"/>
          <p:cNvSpPr/>
          <p:nvPr/>
        </p:nvSpPr>
        <p:spPr>
          <a:xfrm>
            <a:off x="6202442" y="3792498"/>
            <a:ext cx="7711916" cy="1506379"/>
          </a:xfrm>
          <a:prstGeom prst="roundRect">
            <a:avLst>
              <a:gd name="adj" fmla="val 32599"/>
            </a:avLst>
          </a:prstGeom>
          <a:solidFill>
            <a:srgbClr val="3F4652"/>
          </a:solidFill>
          <a:ln/>
        </p:spPr>
        <p:txBody>
          <a:bodyPr/>
          <a:lstStyle/>
          <a:p>
            <a:endParaRPr lang="en-IN"/>
          </a:p>
        </p:txBody>
      </p:sp>
      <p:sp>
        <p:nvSpPr>
          <p:cNvPr id="11" name="Text 8"/>
          <p:cNvSpPr/>
          <p:nvPr/>
        </p:nvSpPr>
        <p:spPr>
          <a:xfrm>
            <a:off x="6406991" y="3997047"/>
            <a:ext cx="2557582" cy="319683"/>
          </a:xfrm>
          <a:prstGeom prst="rect">
            <a:avLst/>
          </a:prstGeom>
          <a:noFill/>
          <a:ln/>
        </p:spPr>
        <p:txBody>
          <a:bodyPr wrap="none" lIns="0" tIns="0" rIns="0" bIns="0" rtlCol="0" anchor="t"/>
          <a:lstStyle/>
          <a:p>
            <a:pPr marL="0" indent="0" algn="l">
              <a:lnSpc>
                <a:spcPts val="2500"/>
              </a:lnSpc>
              <a:buNone/>
            </a:pPr>
            <a:r>
              <a:rPr lang="en-US" sz="2000" dirty="0">
                <a:solidFill>
                  <a:srgbClr val="D6E5EF"/>
                </a:solidFill>
                <a:latin typeface="Roboto Slab" pitchFamily="34" charset="0"/>
                <a:ea typeface="Roboto Slab" pitchFamily="34" charset="-122"/>
                <a:cs typeface="Roboto Slab" pitchFamily="34" charset="-120"/>
              </a:rPr>
              <a:t>Unified Workflows</a:t>
            </a:r>
            <a:endParaRPr lang="en-US" sz="2000" dirty="0"/>
          </a:p>
        </p:txBody>
      </p:sp>
      <p:sp>
        <p:nvSpPr>
          <p:cNvPr id="12" name="Text 9"/>
          <p:cNvSpPr/>
          <p:nvPr/>
        </p:nvSpPr>
        <p:spPr>
          <a:xfrm>
            <a:off x="6406991" y="4439483"/>
            <a:ext cx="7302818" cy="654844"/>
          </a:xfrm>
          <a:prstGeom prst="rect">
            <a:avLst/>
          </a:prstGeom>
          <a:noFill/>
          <a:ln/>
        </p:spPr>
        <p:txBody>
          <a:bodyPr wrap="square" lIns="0" tIns="0" rIns="0" bIns="0" rtlCol="0" anchor="t"/>
          <a:lstStyle/>
          <a:p>
            <a:pPr marL="0" indent="0" algn="l">
              <a:lnSpc>
                <a:spcPts val="2550"/>
              </a:lnSpc>
              <a:buNone/>
            </a:pPr>
            <a:r>
              <a:rPr lang="en-US" sz="1600" dirty="0">
                <a:solidFill>
                  <a:srgbClr val="D6E5EF"/>
                </a:solidFill>
                <a:latin typeface="Roboto" pitchFamily="34" charset="0"/>
                <a:ea typeface="Roboto" pitchFamily="34" charset="-122"/>
                <a:cs typeface="Roboto" pitchFamily="34" charset="-120"/>
              </a:rPr>
              <a:t>Agent Mode bridges code + data + collaboration into seamless developer experiences.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03ABC-8F89-D41D-DB41-2BC44EF779C9}"/>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509FB9D7-4831-D3CB-187D-085C1FC9C087}"/>
              </a:ext>
            </a:extLst>
          </p:cNvPr>
          <p:cNvSpPr/>
          <p:nvPr/>
        </p:nvSpPr>
        <p:spPr>
          <a:xfrm>
            <a:off x="5642907" y="3844922"/>
            <a:ext cx="3344585" cy="982266"/>
          </a:xfrm>
          <a:prstGeom prst="rect">
            <a:avLst/>
          </a:prstGeom>
          <a:noFill/>
          <a:ln/>
        </p:spPr>
        <p:txBody>
          <a:bodyPr wrap="square" lIns="0" tIns="0" rIns="0" bIns="0" rtlCol="0" anchor="t"/>
          <a:lstStyle/>
          <a:p>
            <a:pPr marL="0" indent="0" algn="l">
              <a:lnSpc>
                <a:spcPts val="2550"/>
              </a:lnSpc>
              <a:buNone/>
            </a:pPr>
            <a:r>
              <a:rPr lang="en-US" sz="6000" dirty="0"/>
              <a:t>Q &amp; A</a:t>
            </a:r>
          </a:p>
        </p:txBody>
      </p:sp>
    </p:spTree>
    <p:extLst>
      <p:ext uri="{BB962C8B-B14F-4D97-AF65-F5344CB8AC3E}">
        <p14:creationId xmlns:p14="http://schemas.microsoft.com/office/powerpoint/2010/main" val="354297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092D-BC41-5C85-C5A4-8D21DB56AC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CF283A-2A8C-FDC3-2216-B62EBFA2B9B1}"/>
              </a:ext>
            </a:extLst>
          </p:cNvPr>
          <p:cNvSpPr/>
          <p:nvPr/>
        </p:nvSpPr>
        <p:spPr>
          <a:xfrm>
            <a:off x="620911" y="666631"/>
            <a:ext cx="11743492" cy="554474"/>
          </a:xfrm>
          <a:prstGeom prst="rect">
            <a:avLst/>
          </a:prstGeom>
          <a:noFill/>
          <a:ln/>
        </p:spPr>
        <p:txBody>
          <a:bodyPr wrap="none" lIns="0" tIns="0" rIns="0" bIns="0" rtlCol="0" anchor="t"/>
          <a:lstStyle/>
          <a:p>
            <a:pPr marL="0" indent="0" algn="l">
              <a:lnSpc>
                <a:spcPts val="4350"/>
              </a:lnSpc>
              <a:buNone/>
            </a:pPr>
            <a:r>
              <a:rPr lang="en-US" sz="4000" dirty="0">
                <a:solidFill>
                  <a:srgbClr val="76B9FF"/>
                </a:solidFill>
                <a:latin typeface="Roboto Slab" pitchFamily="34" charset="0"/>
                <a:ea typeface="Roboto Slab" pitchFamily="34" charset="-122"/>
                <a:cs typeface="Roboto Slab" pitchFamily="34" charset="-120"/>
              </a:rPr>
              <a:t>Appendix</a:t>
            </a:r>
          </a:p>
        </p:txBody>
      </p:sp>
      <p:sp>
        <p:nvSpPr>
          <p:cNvPr id="3" name="Text 3">
            <a:extLst>
              <a:ext uri="{FF2B5EF4-FFF2-40B4-BE49-F238E27FC236}">
                <a16:creationId xmlns:a16="http://schemas.microsoft.com/office/drawing/2014/main" id="{E6ABE836-6A4E-F709-95F7-75C06970D9F2}"/>
              </a:ext>
            </a:extLst>
          </p:cNvPr>
          <p:cNvSpPr/>
          <p:nvPr/>
        </p:nvSpPr>
        <p:spPr>
          <a:xfrm>
            <a:off x="1879521" y="3351371"/>
            <a:ext cx="2610445" cy="326350"/>
          </a:xfrm>
          <a:prstGeom prst="rect">
            <a:avLst/>
          </a:prstGeom>
          <a:noFill/>
          <a:ln/>
        </p:spPr>
        <p:txBody>
          <a:bodyPr wrap="none" lIns="0" tIns="0" rIns="0" bIns="0" rtlCol="0" anchor="t"/>
          <a:lstStyle/>
          <a:p>
            <a:pPr>
              <a:lnSpc>
                <a:spcPts val="2550"/>
              </a:lnSpc>
            </a:pPr>
            <a:r>
              <a:rPr lang="en-US" sz="2400" dirty="0">
                <a:hlinkClick r:id="rId3"/>
              </a:rPr>
              <a:t>What is the Model Context Protocol (MCP)? - Model Context Protocol</a:t>
            </a:r>
            <a:endParaRPr lang="en-US" sz="2400" dirty="0"/>
          </a:p>
          <a:p>
            <a:pPr>
              <a:lnSpc>
                <a:spcPts val="2550"/>
              </a:lnSpc>
            </a:pPr>
            <a:r>
              <a:rPr lang="en-US" sz="2400" dirty="0">
                <a:hlinkClick r:id="rId4"/>
              </a:rPr>
              <a:t>Use MCP Servers - Visual Studio (Windows) | Microsoft Learn</a:t>
            </a:r>
            <a:endParaRPr lang="en-US" sz="2400" dirty="0"/>
          </a:p>
          <a:p>
            <a:pPr>
              <a:lnSpc>
                <a:spcPts val="2550"/>
              </a:lnSpc>
            </a:pPr>
            <a:r>
              <a:rPr lang="en-IN" sz="2400" dirty="0">
                <a:hlinkClick r:id="rId5"/>
              </a:rPr>
              <a:t>GitHub Copilot Plugin for JetBrains IDEs | JetBrains Marketplace</a:t>
            </a:r>
            <a:endParaRPr lang="en-IN" sz="2400" dirty="0"/>
          </a:p>
          <a:p>
            <a:pPr>
              <a:lnSpc>
                <a:spcPts val="2550"/>
              </a:lnSpc>
            </a:pPr>
            <a:r>
              <a:rPr lang="en-IN" sz="2400" dirty="0" err="1">
                <a:hlinkClick r:id="rId6"/>
              </a:rPr>
              <a:t>modelcontextprotocol</a:t>
            </a:r>
            <a:r>
              <a:rPr lang="en-IN" sz="2400" dirty="0">
                <a:hlinkClick r:id="rId6"/>
              </a:rPr>
              <a:t>/servers: Model Context Protocol Servers</a:t>
            </a:r>
            <a:endParaRPr lang="en-IN" sz="2400" dirty="0"/>
          </a:p>
          <a:p>
            <a:pPr>
              <a:lnSpc>
                <a:spcPts val="2550"/>
              </a:lnSpc>
            </a:pPr>
            <a:r>
              <a:rPr lang="en-US" sz="2400" dirty="0">
                <a:hlinkClick r:id="rId7"/>
              </a:rPr>
              <a:t>registry/docs at main · </a:t>
            </a:r>
            <a:r>
              <a:rPr lang="en-US" sz="2400" dirty="0" err="1">
                <a:hlinkClick r:id="rId7"/>
              </a:rPr>
              <a:t>modelcontextprotocol</a:t>
            </a:r>
            <a:r>
              <a:rPr lang="en-US" sz="2400" dirty="0">
                <a:hlinkClick r:id="rId7"/>
              </a:rPr>
              <a:t>/registry</a:t>
            </a:r>
            <a:endParaRPr lang="en-US" sz="2050" dirty="0"/>
          </a:p>
        </p:txBody>
      </p:sp>
    </p:spTree>
    <p:extLst>
      <p:ext uri="{BB962C8B-B14F-4D97-AF65-F5344CB8AC3E}">
        <p14:creationId xmlns:p14="http://schemas.microsoft.com/office/powerpoint/2010/main" val="264574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2664-96CC-C262-49F4-DB30A3C203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69CD1A-EDF2-1B4C-0F8B-9CDE950CE523}"/>
              </a:ext>
            </a:extLst>
          </p:cNvPr>
          <p:cNvSpPr/>
          <p:nvPr/>
        </p:nvSpPr>
        <p:spPr>
          <a:xfrm>
            <a:off x="793790" y="857250"/>
            <a:ext cx="10470594" cy="708779"/>
          </a:xfrm>
          <a:prstGeom prst="rect">
            <a:avLst/>
          </a:prstGeom>
          <a:noFill/>
          <a:ln/>
        </p:spPr>
        <p:txBody>
          <a:bodyPr wrap="none" lIns="0" tIns="0" rIns="0" bIns="0" rtlCol="0" anchor="t"/>
          <a:lstStyle/>
          <a:p>
            <a:pPr>
              <a:lnSpc>
                <a:spcPts val="4350"/>
              </a:lnSpc>
            </a:pPr>
            <a:r>
              <a:rPr lang="en-US" sz="4800" dirty="0">
                <a:solidFill>
                  <a:srgbClr val="76B9FF"/>
                </a:solidFill>
                <a:latin typeface="Roboto Slab" pitchFamily="34" charset="0"/>
                <a:ea typeface="Roboto Slab" pitchFamily="34" charset="-122"/>
                <a:cs typeface="Roboto Slab" pitchFamily="34" charset="-120"/>
              </a:rPr>
              <a:t>Appendix(continue…)</a:t>
            </a:r>
          </a:p>
        </p:txBody>
      </p:sp>
      <p:sp>
        <p:nvSpPr>
          <p:cNvPr id="3" name="Shape 1">
            <a:extLst>
              <a:ext uri="{FF2B5EF4-FFF2-40B4-BE49-F238E27FC236}">
                <a16:creationId xmlns:a16="http://schemas.microsoft.com/office/drawing/2014/main" id="{F1DC5349-ED13-6136-F936-D40B44AF8588}"/>
              </a:ext>
            </a:extLst>
          </p:cNvPr>
          <p:cNvSpPr/>
          <p:nvPr/>
        </p:nvSpPr>
        <p:spPr>
          <a:xfrm>
            <a:off x="793791" y="1754952"/>
            <a:ext cx="6521410" cy="2504227"/>
          </a:xfrm>
          <a:prstGeom prst="roundRect">
            <a:avLst>
              <a:gd name="adj" fmla="val 2038"/>
            </a:avLst>
          </a:prstGeom>
          <a:solidFill>
            <a:srgbClr val="3F4652"/>
          </a:solidFill>
          <a:ln/>
        </p:spPr>
        <p:txBody>
          <a:bodyPr/>
          <a:lstStyle/>
          <a:p>
            <a:endParaRPr lang="en-IN"/>
          </a:p>
        </p:txBody>
      </p:sp>
      <p:sp>
        <p:nvSpPr>
          <p:cNvPr id="5" name="Text 3">
            <a:extLst>
              <a:ext uri="{FF2B5EF4-FFF2-40B4-BE49-F238E27FC236}">
                <a16:creationId xmlns:a16="http://schemas.microsoft.com/office/drawing/2014/main" id="{6BC46CB8-ED0A-ECAD-DA10-F3C811E6D3D6}"/>
              </a:ext>
            </a:extLst>
          </p:cNvPr>
          <p:cNvSpPr/>
          <p:nvPr/>
        </p:nvSpPr>
        <p:spPr>
          <a:xfrm>
            <a:off x="1020604" y="2472187"/>
            <a:ext cx="6254968" cy="445446"/>
          </a:xfrm>
          <a:prstGeom prst="rect">
            <a:avLst/>
          </a:prstGeom>
          <a:noFill/>
          <a:ln/>
        </p:spPr>
        <p:txBody>
          <a:bodyPr wrap="square" lIns="0" tIns="0" rIns="0" bIns="0" rtlCol="0" anchor="t"/>
          <a:lstStyle/>
          <a:p>
            <a:r>
              <a:rPr lang="en-IN" dirty="0"/>
              <a:t> </a:t>
            </a:r>
          </a:p>
          <a:p>
            <a:pPr lvl="0"/>
            <a:r>
              <a:rPr lang="en-IN" b="1" dirty="0"/>
              <a:t>MCP Host</a:t>
            </a:r>
            <a:r>
              <a:rPr lang="en-IN" dirty="0"/>
              <a:t>: The AI application(E.g., VS Code) that coordinates and manages one or multiple MCP</a:t>
            </a:r>
          </a:p>
          <a:p>
            <a:pPr lvl="0"/>
            <a:endParaRPr lang="en-IN" dirty="0"/>
          </a:p>
          <a:p>
            <a:pPr lvl="0"/>
            <a:r>
              <a:rPr lang="en-IN" b="1" dirty="0"/>
              <a:t>MCP Client</a:t>
            </a:r>
            <a:r>
              <a:rPr lang="en-IN" dirty="0"/>
              <a:t>: A component that maintains a connection to an MCP server and obtains context from an MCP server for the MCP host to use.</a:t>
            </a:r>
          </a:p>
          <a:p>
            <a:pPr lvl="1"/>
            <a:r>
              <a:rPr lang="en-IN" dirty="0"/>
              <a:t>The Visual Studio Code runtime instantiates an MCP client object(based on configuration in </a:t>
            </a:r>
            <a:r>
              <a:rPr lang="en-IN" dirty="0" err="1"/>
              <a:t>mcp.json</a:t>
            </a:r>
            <a:r>
              <a:rPr lang="en-IN" dirty="0"/>
              <a:t>) that maintains the connection with </a:t>
            </a:r>
            <a:r>
              <a:rPr lang="en-IN" dirty="0" err="1"/>
              <a:t>mcp</a:t>
            </a:r>
            <a:r>
              <a:rPr lang="en-IN" dirty="0"/>
              <a:t> server</a:t>
            </a:r>
          </a:p>
          <a:p>
            <a:pPr lvl="1"/>
            <a:endParaRPr lang="en-IN" dirty="0"/>
          </a:p>
          <a:p>
            <a:pPr lvl="0"/>
            <a:r>
              <a:rPr lang="en-IN" b="1" dirty="0"/>
              <a:t>MCP Server</a:t>
            </a:r>
            <a:r>
              <a:rPr lang="en-IN" dirty="0"/>
              <a:t>: A program that provides context to MCP clients. Can be Remote or Local. MCP servers are programs that expose specific capabilities to AI applications through standardized protocol interfaces.</a:t>
            </a:r>
          </a:p>
        </p:txBody>
      </p:sp>
      <p:pic>
        <p:nvPicPr>
          <p:cNvPr id="6" name="Picture 5">
            <a:extLst>
              <a:ext uri="{FF2B5EF4-FFF2-40B4-BE49-F238E27FC236}">
                <a16:creationId xmlns:a16="http://schemas.microsoft.com/office/drawing/2014/main" id="{F9F688A0-97A4-5846-90D8-74FF5FF2151A}"/>
              </a:ext>
            </a:extLst>
          </p:cNvPr>
          <p:cNvPicPr/>
          <p:nvPr/>
        </p:nvPicPr>
        <p:blipFill>
          <a:blip r:embed="rId3"/>
          <a:stretch>
            <a:fillRect/>
          </a:stretch>
        </p:blipFill>
        <p:spPr>
          <a:xfrm>
            <a:off x="7502385" y="1816334"/>
            <a:ext cx="5731510" cy="4825098"/>
          </a:xfrm>
          <a:prstGeom prst="rect">
            <a:avLst/>
          </a:prstGeom>
          <a:noFill/>
          <a:ln>
            <a:noFill/>
            <a:prstDash/>
          </a:ln>
        </p:spPr>
      </p:pic>
    </p:spTree>
    <p:extLst>
      <p:ext uri="{BB962C8B-B14F-4D97-AF65-F5344CB8AC3E}">
        <p14:creationId xmlns:p14="http://schemas.microsoft.com/office/powerpoint/2010/main" val="1460030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95108-A765-7616-FF50-65159AE5CE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42D00D-A686-0C3D-554E-A064289A9F4F}"/>
              </a:ext>
            </a:extLst>
          </p:cNvPr>
          <p:cNvSpPr/>
          <p:nvPr/>
        </p:nvSpPr>
        <p:spPr>
          <a:xfrm>
            <a:off x="793790" y="857250"/>
            <a:ext cx="10470594" cy="708779"/>
          </a:xfrm>
          <a:prstGeom prst="rect">
            <a:avLst/>
          </a:prstGeom>
          <a:noFill/>
          <a:ln/>
        </p:spPr>
        <p:txBody>
          <a:bodyPr wrap="none" lIns="0" tIns="0" rIns="0" bIns="0" rtlCol="0" anchor="t"/>
          <a:lstStyle/>
          <a:p>
            <a:pPr>
              <a:lnSpc>
                <a:spcPts val="4350"/>
              </a:lnSpc>
            </a:pPr>
            <a:r>
              <a:rPr lang="en-US" sz="4800" dirty="0">
                <a:solidFill>
                  <a:srgbClr val="76B9FF"/>
                </a:solidFill>
                <a:latin typeface="Roboto Slab" pitchFamily="34" charset="0"/>
                <a:ea typeface="Roboto Slab" pitchFamily="34" charset="-122"/>
                <a:cs typeface="Roboto Slab" pitchFamily="34" charset="-120"/>
              </a:rPr>
              <a:t>Appendix(MCP detailed architecture)</a:t>
            </a:r>
          </a:p>
        </p:txBody>
      </p:sp>
      <p:sp>
        <p:nvSpPr>
          <p:cNvPr id="3" name="Shape 1">
            <a:extLst>
              <a:ext uri="{FF2B5EF4-FFF2-40B4-BE49-F238E27FC236}">
                <a16:creationId xmlns:a16="http://schemas.microsoft.com/office/drawing/2014/main" id="{88E8CABF-578F-182F-6C60-0198BB55F681}"/>
              </a:ext>
            </a:extLst>
          </p:cNvPr>
          <p:cNvSpPr/>
          <p:nvPr/>
        </p:nvSpPr>
        <p:spPr>
          <a:xfrm>
            <a:off x="793791" y="1754952"/>
            <a:ext cx="6521410" cy="2504227"/>
          </a:xfrm>
          <a:prstGeom prst="roundRect">
            <a:avLst>
              <a:gd name="adj" fmla="val 2038"/>
            </a:avLst>
          </a:prstGeom>
          <a:solidFill>
            <a:srgbClr val="3F4652"/>
          </a:solidFill>
          <a:ln/>
        </p:spPr>
        <p:txBody>
          <a:bodyPr/>
          <a:lstStyle/>
          <a:p>
            <a:endParaRPr lang="en-IN"/>
          </a:p>
        </p:txBody>
      </p:sp>
      <p:sp>
        <p:nvSpPr>
          <p:cNvPr id="5" name="Text 3">
            <a:extLst>
              <a:ext uri="{FF2B5EF4-FFF2-40B4-BE49-F238E27FC236}">
                <a16:creationId xmlns:a16="http://schemas.microsoft.com/office/drawing/2014/main" id="{5DF11E86-002C-DFF3-B5BC-7EE676C1ACC2}"/>
              </a:ext>
            </a:extLst>
          </p:cNvPr>
          <p:cNvSpPr/>
          <p:nvPr/>
        </p:nvSpPr>
        <p:spPr>
          <a:xfrm>
            <a:off x="1020604" y="2472187"/>
            <a:ext cx="6254968" cy="445446"/>
          </a:xfrm>
          <a:prstGeom prst="rect">
            <a:avLst/>
          </a:prstGeom>
          <a:noFill/>
          <a:ln/>
        </p:spPr>
        <p:txBody>
          <a:bodyPr wrap="square" lIns="0" tIns="0" rIns="0" bIns="0" rtlCol="0" anchor="t"/>
          <a:lstStyle/>
          <a:p>
            <a:r>
              <a:rPr lang="en-IN" dirty="0"/>
              <a:t> </a:t>
            </a:r>
          </a:p>
          <a:p>
            <a:pPr lvl="0"/>
            <a:r>
              <a:rPr lang="en-IN" b="1" dirty="0"/>
              <a:t>MCP Host</a:t>
            </a:r>
            <a:r>
              <a:rPr lang="en-IN" dirty="0"/>
              <a:t>: The AI application(E.g., VS Code) that coordinates and manages one or multiple MCP</a:t>
            </a:r>
          </a:p>
          <a:p>
            <a:pPr lvl="0"/>
            <a:endParaRPr lang="en-IN" dirty="0"/>
          </a:p>
          <a:p>
            <a:pPr lvl="0"/>
            <a:r>
              <a:rPr lang="en-IN" b="1" dirty="0"/>
              <a:t>MCP Client</a:t>
            </a:r>
            <a:r>
              <a:rPr lang="en-IN" dirty="0"/>
              <a:t>: A component that maintains a connection to an MCP server and obtains context from an MCP server for the MCP host to use.</a:t>
            </a:r>
          </a:p>
          <a:p>
            <a:pPr lvl="1"/>
            <a:r>
              <a:rPr lang="en-IN" dirty="0"/>
              <a:t>The Visual Studio Code runtime instantiates an MCP client object(based on configuration in </a:t>
            </a:r>
            <a:r>
              <a:rPr lang="en-IN" dirty="0" err="1"/>
              <a:t>mcp.json</a:t>
            </a:r>
            <a:r>
              <a:rPr lang="en-IN" dirty="0"/>
              <a:t>) that maintains the connection with </a:t>
            </a:r>
            <a:r>
              <a:rPr lang="en-IN" dirty="0" err="1"/>
              <a:t>mcp</a:t>
            </a:r>
            <a:r>
              <a:rPr lang="en-IN" dirty="0"/>
              <a:t> server</a:t>
            </a:r>
          </a:p>
          <a:p>
            <a:pPr lvl="1"/>
            <a:endParaRPr lang="en-IN" dirty="0"/>
          </a:p>
          <a:p>
            <a:pPr lvl="0"/>
            <a:r>
              <a:rPr lang="en-IN" b="1" dirty="0"/>
              <a:t>MCP Server</a:t>
            </a:r>
            <a:r>
              <a:rPr lang="en-IN" dirty="0"/>
              <a:t>: A program that provides context to MCP clients. Can be Remote or Local. MCP servers are programs that expose specific capabilities to AI applications through standardized protocol interfaces.</a:t>
            </a:r>
          </a:p>
        </p:txBody>
      </p:sp>
      <p:pic>
        <p:nvPicPr>
          <p:cNvPr id="6" name="Picture 5">
            <a:extLst>
              <a:ext uri="{FF2B5EF4-FFF2-40B4-BE49-F238E27FC236}">
                <a16:creationId xmlns:a16="http://schemas.microsoft.com/office/drawing/2014/main" id="{47F0321E-FBA9-8546-A060-AFE0EDDC855B}"/>
              </a:ext>
            </a:extLst>
          </p:cNvPr>
          <p:cNvPicPr/>
          <p:nvPr/>
        </p:nvPicPr>
        <p:blipFill>
          <a:blip r:embed="rId3"/>
          <a:stretch>
            <a:fillRect/>
          </a:stretch>
        </p:blipFill>
        <p:spPr>
          <a:xfrm>
            <a:off x="7502385" y="1816334"/>
            <a:ext cx="5731510" cy="4825098"/>
          </a:xfrm>
          <a:prstGeom prst="rect">
            <a:avLst/>
          </a:prstGeom>
          <a:noFill/>
          <a:ln>
            <a:noFill/>
            <a:prstDash/>
          </a:ln>
        </p:spPr>
      </p:pic>
    </p:spTree>
    <p:extLst>
      <p:ext uri="{BB962C8B-B14F-4D97-AF65-F5344CB8AC3E}">
        <p14:creationId xmlns:p14="http://schemas.microsoft.com/office/powerpoint/2010/main" val="2911540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8BD6-EE21-D707-012C-E06B40DDB4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054756-8464-1697-DEAE-CFA2AAF74F07}"/>
              </a:ext>
            </a:extLst>
          </p:cNvPr>
          <p:cNvSpPr/>
          <p:nvPr/>
        </p:nvSpPr>
        <p:spPr>
          <a:xfrm>
            <a:off x="793790" y="857250"/>
            <a:ext cx="10470594" cy="708779"/>
          </a:xfrm>
          <a:prstGeom prst="rect">
            <a:avLst/>
          </a:prstGeom>
          <a:noFill/>
          <a:ln/>
        </p:spPr>
        <p:txBody>
          <a:bodyPr wrap="none" lIns="0" tIns="0" rIns="0" bIns="0" rtlCol="0" anchor="t"/>
          <a:lstStyle/>
          <a:p>
            <a:pPr>
              <a:lnSpc>
                <a:spcPts val="4350"/>
              </a:lnSpc>
            </a:pPr>
            <a:r>
              <a:rPr lang="en-US" sz="4800" dirty="0">
                <a:solidFill>
                  <a:srgbClr val="76B9FF"/>
                </a:solidFill>
                <a:latin typeface="Roboto Slab" pitchFamily="34" charset="0"/>
                <a:ea typeface="Roboto Slab" pitchFamily="34" charset="-122"/>
                <a:cs typeface="Roboto Slab" pitchFamily="34" charset="-120"/>
              </a:rPr>
              <a:t>Appendix(RAG vs MCP servers)</a:t>
            </a:r>
          </a:p>
        </p:txBody>
      </p:sp>
      <p:sp>
        <p:nvSpPr>
          <p:cNvPr id="3" name="Shape 1">
            <a:extLst>
              <a:ext uri="{FF2B5EF4-FFF2-40B4-BE49-F238E27FC236}">
                <a16:creationId xmlns:a16="http://schemas.microsoft.com/office/drawing/2014/main" id="{201457EE-BD7F-2E2B-0625-6958F460C547}"/>
              </a:ext>
            </a:extLst>
          </p:cNvPr>
          <p:cNvSpPr/>
          <p:nvPr/>
        </p:nvSpPr>
        <p:spPr>
          <a:xfrm>
            <a:off x="793791" y="1754952"/>
            <a:ext cx="6521410" cy="2504227"/>
          </a:xfrm>
          <a:prstGeom prst="roundRect">
            <a:avLst>
              <a:gd name="adj" fmla="val 2038"/>
            </a:avLst>
          </a:prstGeom>
          <a:solidFill>
            <a:srgbClr val="3F4652"/>
          </a:solidFill>
          <a:ln/>
        </p:spPr>
        <p:txBody>
          <a:bodyPr/>
          <a:lstStyle/>
          <a:p>
            <a:endParaRPr lang="en-IN"/>
          </a:p>
        </p:txBody>
      </p:sp>
      <p:sp>
        <p:nvSpPr>
          <p:cNvPr id="5" name="Text 3">
            <a:extLst>
              <a:ext uri="{FF2B5EF4-FFF2-40B4-BE49-F238E27FC236}">
                <a16:creationId xmlns:a16="http://schemas.microsoft.com/office/drawing/2014/main" id="{2473E50E-B473-6AAB-71C7-27FC2CE5FB15}"/>
              </a:ext>
            </a:extLst>
          </p:cNvPr>
          <p:cNvSpPr/>
          <p:nvPr/>
        </p:nvSpPr>
        <p:spPr>
          <a:xfrm>
            <a:off x="1020604" y="2472187"/>
            <a:ext cx="6254968" cy="445446"/>
          </a:xfrm>
          <a:prstGeom prst="rect">
            <a:avLst/>
          </a:prstGeom>
          <a:noFill/>
          <a:ln/>
        </p:spPr>
        <p:txBody>
          <a:bodyPr wrap="square" lIns="0" tIns="0" rIns="0" bIns="0" rtlCol="0" anchor="t"/>
          <a:lstStyle/>
          <a:p>
            <a:r>
              <a:rPr lang="en-US" dirty="0"/>
              <a:t>RAG focuses on enriching an AI model's answers with up-to-date, relevant external information. It works by retrieving relevant documents or data (usually via vector databases and embeddings) and augmenting the model's prompt with that data before generating a response. RAG is ideal for tasks like enterprise knowledge search and Q&amp;A systems.</a:t>
            </a:r>
          </a:p>
          <a:p>
            <a:endParaRPr lang="en-US" dirty="0"/>
          </a:p>
        </p:txBody>
      </p:sp>
      <p:sp>
        <p:nvSpPr>
          <p:cNvPr id="4" name="Shape 1">
            <a:extLst>
              <a:ext uri="{FF2B5EF4-FFF2-40B4-BE49-F238E27FC236}">
                <a16:creationId xmlns:a16="http://schemas.microsoft.com/office/drawing/2014/main" id="{31483321-3BD0-841B-39AC-5E5572023543}"/>
              </a:ext>
            </a:extLst>
          </p:cNvPr>
          <p:cNvSpPr/>
          <p:nvPr/>
        </p:nvSpPr>
        <p:spPr>
          <a:xfrm>
            <a:off x="793791" y="5006840"/>
            <a:ext cx="6521410" cy="2504227"/>
          </a:xfrm>
          <a:prstGeom prst="roundRect">
            <a:avLst>
              <a:gd name="adj" fmla="val 2038"/>
            </a:avLst>
          </a:prstGeom>
          <a:solidFill>
            <a:srgbClr val="3F4652"/>
          </a:solidFill>
          <a:ln/>
        </p:spPr>
        <p:txBody>
          <a:bodyPr/>
          <a:lstStyle/>
          <a:p>
            <a:r>
              <a:rPr lang="en-US" dirty="0"/>
              <a:t>MCP servers, on the other hand, provide a standardized protocol and a client-server architecture that let AI models interact with external tools, APIs, and data sources in real-time. MCP servers expose capabilities such as file access, API calls, database queries, or task executions. The LLM uses these by calling the MCP server tools as needed to perform actions or retrieve live data, enabling automation and dynamic workflows.</a:t>
            </a:r>
          </a:p>
        </p:txBody>
      </p:sp>
    </p:spTree>
    <p:extLst>
      <p:ext uri="{BB962C8B-B14F-4D97-AF65-F5344CB8AC3E}">
        <p14:creationId xmlns:p14="http://schemas.microsoft.com/office/powerpoint/2010/main" val="30235772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1427</TotalTime>
  <Words>746</Words>
  <Application>Microsoft Office PowerPoint</Application>
  <PresentationFormat>Custom</PresentationFormat>
  <Paragraphs>78</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Consolas</vt:lpstr>
      <vt:lpstr>Wingdings 3</vt:lpstr>
      <vt:lpstr>Trebuchet MS</vt:lpstr>
      <vt:lpstr>Roboto Slab</vt:lpstr>
      <vt:lpstr>Roboto</vt:lpstr>
      <vt:lpstr>Arial</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Rishikesh Kumar</dc:creator>
  <cp:lastModifiedBy>Rishikesh Kumar</cp:lastModifiedBy>
  <cp:revision>44</cp:revision>
  <dcterms:created xsi:type="dcterms:W3CDTF">2025-10-06T10:17:17Z</dcterms:created>
  <dcterms:modified xsi:type="dcterms:W3CDTF">2025-10-07T12:59:54Z</dcterms:modified>
</cp:coreProperties>
</file>